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5" r:id="rId5"/>
    <p:sldId id="326" r:id="rId6"/>
    <p:sldId id="329" r:id="rId7"/>
    <p:sldId id="330" r:id="rId8"/>
    <p:sldId id="338" r:id="rId9"/>
    <p:sldId id="339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05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7FF95820-84BB-3447-8286-60A51307E7F2}" type="datetimeFigureOut">
              <a:rPr lang="en-GB" smtClean="0"/>
              <a:t>09/05/2025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0E476440-F66F-F947-8EFC-EA5202ACFD2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C08FC54-6AE4-6A4A-9756-823A0F1BE5A6}" type="datetimeFigureOut">
              <a:rPr lang="en-GB" smtClean="0"/>
              <a:t>09/05/2025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6B79E9EB-07EB-9D44-9F5A-AB1FBECCDD8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8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829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96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08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717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7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lang="en-GB" sz="2400" cap="all" baseline="0"/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rtlCol="0" anchor="ctr"/>
          <a:lstStyle>
            <a:lvl1pPr algn="ctr">
              <a:defRPr lang="en-GB" sz="6000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 rtlCol="0"/>
          <a:lstStyle>
            <a:lvl1pPr>
              <a:defRPr lang="en-GB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 rtlCol="0"/>
          <a:lstStyle>
            <a:lvl1pPr marL="0" indent="0">
              <a:lnSpc>
                <a:spcPct val="150000"/>
              </a:lnSpc>
              <a:buNone/>
              <a:defRPr lang="en-GB" sz="2000" cap="all" spc="0" baseline="0"/>
            </a:lvl1pPr>
            <a:lvl2pPr marL="228600">
              <a:defRPr lang="en-GB" spc="0" baseline="0"/>
            </a:lvl2pPr>
            <a:lvl3pPr marL="457200">
              <a:defRPr lang="en-GB" spc="0" baseline="0"/>
            </a:lvl3pPr>
            <a:lvl4pPr marL="685800">
              <a:defRPr lang="en-GB" spc="0" baseline="0"/>
            </a:lvl4pPr>
            <a:lvl5pPr marL="1143000"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 rtlCol="0"/>
          <a:lstStyle>
            <a:lvl1pPr>
              <a:defRPr lang="en-GB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 rtlCol="0"/>
          <a:lstStyle>
            <a:lvl1pPr marL="0" indent="0">
              <a:lnSpc>
                <a:spcPct val="150000"/>
              </a:lnSpc>
              <a:buNone/>
              <a:defRPr lang="en-GB" sz="2000" cap="none" spc="0" baseline="0"/>
            </a:lvl1pPr>
            <a:lvl2pPr marL="228600">
              <a:defRPr lang="en-GB" spc="0" baseline="0"/>
            </a:lvl2pPr>
            <a:lvl3pPr marL="457200">
              <a:defRPr lang="en-GB" spc="0" baseline="0"/>
            </a:lvl3pPr>
            <a:lvl4pPr marL="685800">
              <a:defRPr lang="en-GB" spc="0" baseline="0"/>
            </a:lvl4pPr>
            <a:lvl5pPr marL="1143000"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rtlCol="0" anchor="ctr"/>
          <a:lstStyle>
            <a:lvl1pPr algn="ctr">
              <a:defRPr lang="en-GB" sz="4800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 rtlCol="0"/>
          <a:lstStyle>
            <a:lvl1pPr marL="0" indent="0">
              <a:buNone/>
              <a:defRPr lang="en-GB"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en-GB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GB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 rtlCol="0"/>
          <a:lstStyle>
            <a:lvl1pPr>
              <a:defRPr lang="en-GB" spc="3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 rtlCol="0"/>
          <a:lstStyle>
            <a:lvl1pPr>
              <a:defRPr lang="en-GB" spc="0" baseline="0"/>
            </a:lvl1pPr>
            <a:lvl2pPr>
              <a:defRPr lang="en-GB" spc="0" baseline="0"/>
            </a:lvl2pPr>
            <a:lvl3pPr>
              <a:defRPr lang="en-GB" spc="0" baseline="0"/>
            </a:lvl3pPr>
            <a:lvl4pPr>
              <a:defRPr lang="en-GB" spc="0" baseline="0"/>
            </a:lvl4pPr>
            <a:lvl5pPr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 rtlCol="0"/>
          <a:lstStyle>
            <a:lvl1pPr algn="ctr">
              <a:defRPr lang="en-GB" spc="3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 rtlCol="0"/>
          <a:lstStyle>
            <a:lvl1pPr>
              <a:defRPr lang="en-GB" spc="0" baseline="0"/>
            </a:lvl1pPr>
            <a:lvl2pPr>
              <a:defRPr lang="en-GB" spc="0" baseline="0"/>
            </a:lvl2pPr>
            <a:lvl3pPr>
              <a:defRPr lang="en-GB" spc="0" baseline="0"/>
            </a:lvl3pPr>
            <a:lvl4pPr>
              <a:defRPr lang="en-GB" spc="0" baseline="0"/>
            </a:lvl4pPr>
            <a:lvl5pPr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 rtlCol="0"/>
          <a:lstStyle>
            <a:lvl1pPr marL="0" indent="0" algn="l">
              <a:buNone/>
              <a:defRPr lang="en-GB" sz="2000" cap="all" spc="200" baseline="0">
                <a:latin typeface="+mj-lt"/>
              </a:defRPr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rtlCol="0" anchor="b"/>
          <a:lstStyle>
            <a:lvl1pPr algn="l">
              <a:lnSpc>
                <a:spcPts val="5200"/>
              </a:lnSpc>
              <a:defRPr lang="en-GB" sz="3600" spc="0" baseline="0">
                <a:latin typeface="+mn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 rtlCol="0"/>
          <a:lstStyle>
            <a:lvl1pPr algn="ctr">
              <a:lnSpc>
                <a:spcPts val="5760"/>
              </a:lnSpc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 rtlCol="0"/>
          <a:lstStyle>
            <a:lvl1pPr algn="l">
              <a:lnSpc>
                <a:spcPts val="5760"/>
              </a:lnSpc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rtlCol="0" anchor="t" anchorCtr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rtlCol="0" anchor="t">
            <a:noAutofit/>
          </a:bodyPr>
          <a:lstStyle>
            <a:lvl1pPr marL="0" indent="0">
              <a:lnSpc>
                <a:spcPts val="240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 rtlCol="0"/>
          <a:lstStyle>
            <a:lvl1pPr marL="0" indent="0">
              <a:buNone/>
              <a:defRPr lang="en-GB" sz="1400"/>
            </a:lvl1pPr>
            <a:lvl2pPr marL="228600">
              <a:defRPr lang="en-GB" sz="1400"/>
            </a:lvl2pPr>
            <a:lvl3pPr marL="457200">
              <a:defRPr lang="en-GB" sz="1400"/>
            </a:lvl3pPr>
            <a:lvl4pPr marL="685800">
              <a:defRPr lang="en-GB" sz="1400"/>
            </a:lvl4pPr>
            <a:lvl5pPr marL="1143000"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rtlCol="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 rtlCol="0"/>
          <a:lstStyle>
            <a:lvl1pPr marL="0" indent="0">
              <a:buNone/>
              <a:defRPr lang="en-GB" sz="1400"/>
            </a:lvl1pPr>
            <a:lvl2pPr marL="228600">
              <a:defRPr lang="en-GB" sz="1400"/>
            </a:lvl2pPr>
            <a:lvl3pPr marL="457200">
              <a:defRPr lang="en-GB" sz="1400"/>
            </a:lvl3pPr>
            <a:lvl4pPr marL="685800">
              <a:defRPr lang="en-GB" sz="1400"/>
            </a:lvl4pPr>
            <a:lvl5pPr marL="1143000"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rtlCol="0" anchor="b" anchorCtr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rtlCol="0" anchor="ctr"/>
          <a:lstStyle>
            <a:lvl1pPr marL="0" indent="0" algn="ctr">
              <a:lnSpc>
                <a:spcPts val="2460"/>
              </a:lnSpc>
              <a:buNone/>
              <a:defRPr lang="en-GB" sz="2000"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rtlCol="0" anchor="b">
            <a:noAutofit/>
          </a:bodyPr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rtlCol="0" anchor="ctr"/>
          <a:lstStyle>
            <a:lvl1pPr marL="0" indent="0" algn="ctr">
              <a:buNone/>
              <a:defRPr lang="en-GB" sz="105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rtlCol="0" anchor="ctr"/>
          <a:lstStyle>
            <a:lvl1pPr marL="0" indent="0" algn="ctr">
              <a:buNone/>
              <a:defRPr lang="en-GB" sz="2000" cap="all" baseline="0"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rtlCol="0" anchor="b"/>
          <a:lstStyle>
            <a:lvl1pPr>
              <a:defRPr lang="en-GB"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 rtlCol="0"/>
          <a:lstStyle>
            <a:lvl1pPr>
              <a:defRPr lang="en-GB" sz="3200"/>
            </a:lvl1pPr>
            <a:lvl2pPr>
              <a:defRPr lang="en-GB" sz="2800"/>
            </a:lvl2pPr>
            <a:lvl3pPr>
              <a:defRPr lang="en-GB" sz="2400"/>
            </a:lvl3pPr>
            <a:lvl4pPr>
              <a:defRPr lang="en-GB" sz="2000"/>
            </a:lvl4pPr>
            <a:lvl5pPr>
              <a:defRPr lang="en-GB" sz="2000"/>
            </a:lvl5pPr>
            <a:lvl6pPr>
              <a:defRPr lang="en-GB" sz="2000"/>
            </a:lvl6pPr>
            <a:lvl7pPr>
              <a:defRPr lang="en-GB" sz="2000"/>
            </a:lvl7pPr>
            <a:lvl8pPr>
              <a:defRPr lang="en-GB" sz="2000"/>
            </a:lvl8pPr>
            <a:lvl9pPr>
              <a:defRPr lang="en-GB"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GB" sz="16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rtlCol="0" anchor="b"/>
          <a:lstStyle>
            <a:lvl1pPr>
              <a:defRPr lang="en-GB"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 rtlCol="0"/>
          <a:lstStyle>
            <a:lvl1pPr marL="0" indent="0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GB" sz="16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en-GB"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urJain305/emotiondetec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emotiondetection-1-zbpi.onrender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21" y="2263515"/>
            <a:ext cx="10515600" cy="1838702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Emotion detection system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7148"/>
            <a:ext cx="9144000" cy="166390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Ankur jain​</a:t>
            </a:r>
          </a:p>
          <a:p>
            <a:pPr rtl="0"/>
            <a:r>
              <a:rPr lang="en-GB" dirty="0"/>
              <a:t>Department of </a:t>
            </a:r>
            <a:r>
              <a:rPr lang="en-GB" dirty="0" err="1"/>
              <a:t>ai&amp;ml</a:t>
            </a:r>
            <a:r>
              <a:rPr lang="en-GB" dirty="0"/>
              <a:t> </a:t>
            </a:r>
          </a:p>
          <a:p>
            <a:pPr rtl="0"/>
            <a:r>
              <a:rPr lang="en-GB" dirty="0"/>
              <a:t>Nims university Jaipur </a:t>
            </a:r>
            <a:r>
              <a:rPr lang="en-GB" dirty="0" err="1"/>
              <a:t>rajasthan</a:t>
            </a:r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80" y="654048"/>
            <a:ext cx="7189033" cy="68909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Problem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DB55-C0CF-1610-24F0-07462C63BC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DE2E-F5E3-8CAF-A5C3-E67C03F53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685" y="1546224"/>
            <a:ext cx="10558630" cy="4360161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>
                <a:latin typeface="Sitka Display" pitchFamily="2" charset="0"/>
              </a:rPr>
              <a:t>To design and deploy an </a:t>
            </a:r>
            <a:r>
              <a:rPr lang="en-GB" b="1" dirty="0">
                <a:latin typeface="Sitka Display" pitchFamily="2" charset="0"/>
              </a:rPr>
              <a:t>offline-capable</a:t>
            </a:r>
            <a:r>
              <a:rPr lang="en-GB" dirty="0">
                <a:latin typeface="Sitka Display" pitchFamily="2" charset="0"/>
              </a:rPr>
              <a:t> machine learning solution that can detect user emotion from </a:t>
            </a:r>
            <a:r>
              <a:rPr lang="en-GB" b="1" dirty="0">
                <a:latin typeface="Sitka Display" pitchFamily="2" charset="0"/>
              </a:rPr>
              <a:t>text input</a:t>
            </a:r>
            <a:r>
              <a:rPr lang="en-GB" dirty="0">
                <a:latin typeface="Sitka Display" pitchFamily="2" charset="0"/>
              </a:rPr>
              <a:t>, and optionally from </a:t>
            </a:r>
            <a:r>
              <a:rPr lang="en-GB" b="1" dirty="0">
                <a:latin typeface="Sitka Display" pitchFamily="2" charset="0"/>
              </a:rPr>
              <a:t>voice input using Whisper</a:t>
            </a:r>
            <a:r>
              <a:rPr lang="en-GB" dirty="0">
                <a:latin typeface="Sitka Display" pitchFamily="2" charset="0"/>
              </a:rPr>
              <a:t>, without relying on external APIs.</a:t>
            </a:r>
          </a:p>
          <a:p>
            <a:pPr>
              <a:buNone/>
            </a:pPr>
            <a:r>
              <a:rPr lang="en-GB" dirty="0">
                <a:latin typeface="Sitka Display" pitchFamily="2" charset="0"/>
              </a:rPr>
              <a:t>This aligns with business needs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Sitka Display" pitchFamily="2" charset="0"/>
              </a:rPr>
              <a:t>Reducing dependency on third-party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Sitka Display" pitchFamily="2" charset="0"/>
              </a:rPr>
              <a:t>Ensuring </a:t>
            </a:r>
            <a:r>
              <a:rPr lang="en-GB" b="1" dirty="0">
                <a:latin typeface="Sitka Display" pitchFamily="2" charset="0"/>
              </a:rPr>
              <a:t>privacy</a:t>
            </a:r>
            <a:r>
              <a:rPr lang="en-GB" dirty="0">
                <a:latin typeface="Sitka Display" pitchFamily="2" charset="0"/>
              </a:rPr>
              <a:t> and </a:t>
            </a:r>
            <a:r>
              <a:rPr lang="en-GB" b="1" dirty="0">
                <a:latin typeface="Sitka Display" pitchFamily="2" charset="0"/>
              </a:rPr>
              <a:t>speed</a:t>
            </a:r>
            <a:endParaRPr lang="en-GB" dirty="0">
              <a:latin typeface="Sitka Display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Sitka Display" pitchFamily="2" charset="0"/>
              </a:rPr>
              <a:t>Laying the groundwork for smarter, emotionally aware systems</a:t>
            </a:r>
          </a:p>
          <a:p>
            <a:pPr rtl="0"/>
            <a:endParaRPr lang="en-GB" dirty="0">
              <a:latin typeface="Sitka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052" y="196848"/>
            <a:ext cx="10058400" cy="91440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500" dirty="0"/>
              <a:t>approach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3</a:t>
            </a:fld>
            <a:endParaRPr lang="en-GB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93FCE26-B9B6-80CB-FBB0-43D73DF70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7824" y="654048"/>
            <a:ext cx="1005840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Here is the step by step plan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1.Understand the Data &amp; Define Labels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Worked with a labeled dataset (emotion.csv) containing 6 emotion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b) Ensured class balance and label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2.Preprocessing and 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Cleaned text using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neattext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b) Converted neat text into numerical form using TF-IDF Vectorization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3. Model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a)Choose </a:t>
            </a:r>
            <a:r>
              <a:rPr lang="en-US" altLang="en-US" sz="1800" dirty="0" err="1">
                <a:latin typeface="Sitka Display" pitchFamily="2" charset="0"/>
              </a:rPr>
              <a:t>Mutlinomial</a:t>
            </a:r>
            <a:r>
              <a:rPr lang="en-US" altLang="en-US" sz="1800" dirty="0">
                <a:latin typeface="Sitka Display" pitchFamily="2" charset="0"/>
              </a:rPr>
              <a:t> Navie Bayes: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) Lightweight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     ii) Interpretable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     iii) Efficient for text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4. Optional Speech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Integrated OpenAI’s Whisper model for speech to text which will be running only locally.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5.Building the </a:t>
            </a:r>
            <a:r>
              <a:rPr lang="en-US" altLang="en-US" sz="1800" b="1" dirty="0" err="1">
                <a:latin typeface="Sitka Display" pitchFamily="2" charset="0"/>
              </a:rPr>
              <a:t>streamlit</a:t>
            </a:r>
            <a:r>
              <a:rPr lang="en-US" altLang="en-US" sz="1800" b="1" dirty="0">
                <a:latin typeface="Sitka Display" pitchFamily="2" charset="0"/>
              </a:rPr>
              <a:t>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Used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to create the UI which will take text on deployed 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b) It will take text and speech both in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6. Deployment &amp;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a) Deployed on Render without whisper for fast and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b) Local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tesing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included both text and voice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262" y="268792"/>
            <a:ext cx="9829800" cy="91440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Solution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F85-A479-7797-B775-BEC7354842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3E4D-D096-DA02-6E8D-C161D57C2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4</a:t>
            </a:fld>
            <a:endParaRPr lang="en-GB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B382BCD-ED78-CFD4-E096-C3739C4F1C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1172340"/>
            <a:ext cx="9845040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Final 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Text-Based Emotion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Model:Multimodal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Navie Bayes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Features: TF-IDF vectors of cleaned text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Output: One of 6 emotions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Sadness, Joy, Love, Anger, Fear, Surprise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Local Whisper Integration (for testing only)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Translates audio to text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Enables future voice-based emotion detection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Disabled in deployed version due to server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User Interface (Built with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Simple and intuitive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Supports: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Direct text input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Real-time prediction and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Deployment on Render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Whisper excluded for performance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Text-only emotion detection hosted and live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Uses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for fast model loading</a:t>
            </a:r>
          </a:p>
        </p:txBody>
      </p:sp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7103A8-AEEA-50D3-BE61-CC85D24B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809" y="159894"/>
            <a:ext cx="9449774" cy="724525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Results and evaluation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BCABC-85E9-BA68-F054-2D775922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68DFA-67C8-742E-218F-DDEC782EC00E}"/>
              </a:ext>
            </a:extLst>
          </p:cNvPr>
          <p:cNvSpPr txBox="1"/>
          <p:nvPr/>
        </p:nvSpPr>
        <p:spPr>
          <a:xfrm>
            <a:off x="1048824" y="942625"/>
            <a:ext cx="1009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itka Display" pitchFamily="2" charset="0"/>
              </a:rPr>
              <a:t>Evaluation Metrics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64B80C-B90B-BD7A-27A4-CB7AF095B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71450"/>
              </p:ext>
            </p:extLst>
          </p:nvPr>
        </p:nvGraphicFramePr>
        <p:xfrm>
          <a:off x="1048824" y="1311956"/>
          <a:ext cx="9834035" cy="2560320"/>
        </p:xfrm>
        <a:graphic>
          <a:graphicData uri="http://schemas.openxmlformats.org/drawingml/2006/table">
            <a:tbl>
              <a:tblPr/>
              <a:tblGrid>
                <a:gridCol w="1966807">
                  <a:extLst>
                    <a:ext uri="{9D8B030D-6E8A-4147-A177-3AD203B41FA5}">
                      <a16:colId xmlns:a16="http://schemas.microsoft.com/office/drawing/2014/main" val="1743356673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415875099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954413751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227147904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532526301"/>
                    </a:ext>
                  </a:extLst>
                </a:gridCol>
              </a:tblGrid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91846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665737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20664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57395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6,853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181231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24,504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726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86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7CDF9EA-C251-DC0B-750A-B18A3CF4E5E1}"/>
              </a:ext>
            </a:extLst>
          </p:cNvPr>
          <p:cNvSpPr txBox="1"/>
          <p:nvPr/>
        </p:nvSpPr>
        <p:spPr>
          <a:xfrm>
            <a:off x="1048824" y="4345715"/>
            <a:ext cx="95642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itka Display" pitchFamily="2" charset="0"/>
              </a:rPr>
              <a:t>Overall Performance:</a:t>
            </a:r>
          </a:p>
          <a:p>
            <a:pPr marL="342900" indent="-342900">
              <a:buAutoNum type="arabicPeriod"/>
            </a:pPr>
            <a:r>
              <a:rPr lang="en-GB" dirty="0">
                <a:latin typeface="Sitka Display" pitchFamily="2" charset="0"/>
              </a:rPr>
              <a:t>Accuracy : 87%</a:t>
            </a:r>
          </a:p>
          <a:p>
            <a:pPr marL="342900" indent="-342900">
              <a:buAutoNum type="arabicPeriod"/>
            </a:pPr>
            <a:r>
              <a:rPr lang="en-GB" dirty="0">
                <a:latin typeface="Sitka Display" pitchFamily="2" charset="0"/>
              </a:rPr>
              <a:t>Weighted </a:t>
            </a:r>
            <a:r>
              <a:rPr lang="en-GB" dirty="0" err="1">
                <a:latin typeface="Sitka Display" pitchFamily="2" charset="0"/>
              </a:rPr>
              <a:t>Avg</a:t>
            </a:r>
            <a:r>
              <a:rPr lang="en-GB" dirty="0">
                <a:latin typeface="Sitka Display" pitchFamily="2" charset="0"/>
              </a:rPr>
              <a:t> F1-score: 0.86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 err="1">
                <a:latin typeface="Sitka Display" pitchFamily="2" charset="0"/>
              </a:rPr>
              <a:t>Github</a:t>
            </a:r>
            <a:r>
              <a:rPr lang="en-GB" dirty="0">
                <a:latin typeface="Sitka Display" pitchFamily="2" charset="0"/>
              </a:rPr>
              <a:t> repo: </a:t>
            </a:r>
            <a:r>
              <a:rPr lang="en-GB" dirty="0">
                <a:latin typeface="Sitka Display" pitchFamily="2" charset="0"/>
                <a:hlinkClick r:id="rId3"/>
              </a:rPr>
              <a:t>https://github.com/AnkurJain305/emotiondetection</a:t>
            </a:r>
            <a:endParaRPr lang="en-GB" dirty="0">
              <a:latin typeface="Sitka Display" pitchFamily="2" charset="0"/>
            </a:endParaRPr>
          </a:p>
          <a:p>
            <a:r>
              <a:rPr lang="en-GB" dirty="0">
                <a:latin typeface="Sitka Display" pitchFamily="2" charset="0"/>
              </a:rPr>
              <a:t>Live Link : </a:t>
            </a:r>
            <a:r>
              <a:rPr lang="en-GB" dirty="0">
                <a:latin typeface="Sitka Display" pitchFamily="2" charset="0"/>
                <a:hlinkClick r:id="rId4"/>
              </a:rPr>
              <a:t>https://emotiondetection-1-zbpi.onrender.com</a:t>
            </a:r>
            <a:endParaRPr lang="en-GB" dirty="0">
              <a:latin typeface="Sitka Display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hite DNA structure">
            <a:extLst>
              <a:ext uri="{FF2B5EF4-FFF2-40B4-BE49-F238E27FC236}">
                <a16:creationId xmlns:a16="http://schemas.microsoft.com/office/drawing/2014/main" id="{6D8705D1-EA1F-3113-ABE0-EC474D1F18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59763" y="0"/>
            <a:ext cx="12191999" cy="6858000"/>
          </a:xfr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1130D679-D78E-1F15-EC3D-4BED6D69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Thank you </a:t>
            </a:r>
          </a:p>
        </p:txBody>
      </p:sp>
      <p:pic>
        <p:nvPicPr>
          <p:cNvPr id="22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862BA3D8-52E1-692C-F244-F7882DAD2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B8B6963-69FE-8A03-5E86-2BF855024B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372698"/>
            <a:ext cx="9116568" cy="1101254"/>
          </a:xfrm>
        </p:spPr>
        <p:txBody>
          <a:bodyPr rtlCol="0"/>
          <a:lstStyle>
            <a:defPPr>
              <a:defRPr lang="en-GB"/>
            </a:defPPr>
          </a:lstStyle>
          <a:p>
            <a:pPr marL="0" indent="0" algn="ctr" rtl="0">
              <a:lnSpc>
                <a:spcPts val="2660"/>
              </a:lnSpc>
              <a:spcBef>
                <a:spcPts val="0"/>
              </a:spcBef>
              <a:buNone/>
            </a:pPr>
            <a:r>
              <a:rPr lang="en-GB" cap="none" dirty="0"/>
              <a:t>Ankur Jain</a:t>
            </a:r>
          </a:p>
          <a:p>
            <a:pPr marL="0" indent="0" algn="ctr" rtl="0">
              <a:lnSpc>
                <a:spcPts val="2660"/>
              </a:lnSpc>
              <a:spcBef>
                <a:spcPts val="0"/>
              </a:spcBef>
              <a:buNone/>
            </a:pPr>
            <a:r>
              <a:rPr lang="en-GB" sz="2000" cap="none" spc="0" dirty="0"/>
              <a:t>jankur168@gmail.com</a:t>
            </a:r>
          </a:p>
        </p:txBody>
      </p:sp>
    </p:spTree>
    <p:extLst>
      <p:ext uri="{BB962C8B-B14F-4D97-AF65-F5344CB8AC3E}">
        <p14:creationId xmlns:p14="http://schemas.microsoft.com/office/powerpoint/2010/main" val="333412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924191_TF67061901_Win32" id="{094AC7FD-BAB7-46CA-8E37-63065852EE84}" vid="{10285E95-D996-4EAB-A1C1-2E009DC7BB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{17DA04F8-168D-4A46-9486-8BAF13D2325F}tf67061901_win32</Template>
  <TotalTime>112</TotalTime>
  <Words>475</Words>
  <Application>Microsoft Office PowerPoint</Application>
  <PresentationFormat>Widescreen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Daytona Condensed Light</vt:lpstr>
      <vt:lpstr>Posterama</vt:lpstr>
      <vt:lpstr>Sitka Display</vt:lpstr>
      <vt:lpstr>Office Theme</vt:lpstr>
      <vt:lpstr>Emotion detection system </vt:lpstr>
      <vt:lpstr>Problem statement</vt:lpstr>
      <vt:lpstr>approach</vt:lpstr>
      <vt:lpstr>Solution</vt:lpstr>
      <vt:lpstr>Results and evaluation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Jain</dc:creator>
  <cp:lastModifiedBy>Ankur Jain</cp:lastModifiedBy>
  <cp:revision>2</cp:revision>
  <dcterms:created xsi:type="dcterms:W3CDTF">2025-05-09T04:48:20Z</dcterms:created>
  <dcterms:modified xsi:type="dcterms:W3CDTF">2025-05-09T06:41:10Z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